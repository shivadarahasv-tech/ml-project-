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5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66928"/>
            <a:ext cx="59436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400" b="1" i="0">
                <a:solidFill>
                  <a:srgbClr val="255B87"/>
                </a:solidFill>
                <a:latin typeface="Aptos"/>
              </a:rPr>
              <a:t>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1F4D73"/>
                </a:solidFill>
                <a:latin typeface="Georgia"/>
              </a:rPr>
              <a:t>MULTI-AGENT PPO-BASED RELAY SELECTION AND POWER ALLOCATION FOR COOPERATIVE NOMA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598" y="2743200"/>
            <a:ext cx="10607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 dirty="0">
                <a:solidFill>
                  <a:srgbClr val="5F6771"/>
                </a:solidFill>
                <a:latin typeface="Georgia"/>
              </a:rPr>
              <a:t>Adaptive helper selection and transmission-power decisions for cooperative NOMA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46120"/>
            <a:ext cx="10881360" cy="24231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456432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F4D73"/>
                </a:solidFill>
                <a:latin typeface="Aptos"/>
              </a:rPr>
              <a:t>Course: Machine Learning (25SC2107E)  |  A.Y.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886200"/>
            <a:ext cx="5029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263240"/>
                </a:solidFill>
                <a:latin typeface="Aptos"/>
              </a:rPr>
              <a:t>Department: Electronics &amp; Communication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70832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Guide: Mr. N Lava Prasad, Assistant Professor, 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456432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F4D73"/>
                </a:solidFill>
                <a:latin typeface="Aptos"/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840480"/>
            <a:ext cx="480060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263240"/>
                </a:solidFill>
                <a:latin typeface="Aptos"/>
              </a:rPr>
              <a:t>G. Harshith  —  2520040079
V. Shivadarahas  —  2520040038
B. Pavan  —  2520040102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5F6771"/>
                </a:solidFill>
                <a:latin typeface="Aptos"/>
              </a:rPr>
              <a:t>Koneru Lakshmaiah Education Foundation  |  A.Y.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10972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45336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255B8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527048"/>
            <a:ext cx="4480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Problem Statement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874519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Changing wireless channels, interference and inefficient fixed resource allocation.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49240" cy="10972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545336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255B8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1527048"/>
            <a:ext cx="4480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Objectives &amp;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874519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Improve throughput, link reliability and energy efficiency.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34640"/>
            <a:ext cx="5349240" cy="10972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962656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255B87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2944368"/>
            <a:ext cx="4480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Proposed Approach &amp;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291840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Two PPO agents for relay selection and power allocation.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834640"/>
            <a:ext cx="5349240" cy="10972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2962656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255B8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944368"/>
            <a:ext cx="4480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Simulation Dataset &amp;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291840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Synthetic wireless states, fading, noise and candidate relays.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5349240" cy="10972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379976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255B87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4361688"/>
            <a:ext cx="4480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Training &amp; Comparative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4709160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Evaluate trained PPO against random and fixed/heuristic baselines.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251960"/>
            <a:ext cx="5349240" cy="10972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4379976"/>
            <a:ext cx="411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255B87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361688"/>
            <a:ext cx="4480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4709160"/>
            <a:ext cx="4480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Limitations, realistic channel models and larger cooperative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132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1F4D73"/>
                </a:solidFill>
                <a:latin typeface="Aptos"/>
              </a:rPr>
              <a:t>CHALLENGES IN COOPERATIVE NOMA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6903720" cy="42062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40"/>
                </a:solidFill>
                <a:latin typeface="Aptos"/>
              </a:defRPr>
            </a:pPr>
            <a:r>
              <a:t>Wireless channel quality changes with fading, distance and interference.</a:t>
            </a:r>
          </a:p>
          <a:p>
            <a:pPr>
              <a:spcAft>
                <a:spcPts val="600"/>
              </a:spcAft>
              <a:defRPr sz="1500">
                <a:solidFill>
                  <a:srgbClr val="263240"/>
                </a:solidFill>
                <a:latin typeface="Aptos"/>
              </a:defRPr>
            </a:pPr>
            <a:r>
              <a:t>A weak or far user may receive an unreliable direct signal.</a:t>
            </a:r>
          </a:p>
          <a:p>
            <a:pPr>
              <a:spcAft>
                <a:spcPts val="600"/>
              </a:spcAft>
              <a:defRPr sz="1500">
                <a:solidFill>
                  <a:srgbClr val="263240"/>
                </a:solidFill>
                <a:latin typeface="Aptos"/>
              </a:defRPr>
            </a:pPr>
            <a:r>
              <a:t>Choosing a suitable helper relay requires comparing multiple channel links.</a:t>
            </a:r>
          </a:p>
          <a:p>
            <a:pPr>
              <a:spcAft>
                <a:spcPts val="600"/>
              </a:spcAft>
              <a:defRPr sz="1500">
                <a:solidFill>
                  <a:srgbClr val="263240"/>
                </a:solidFill>
                <a:latin typeface="Aptos"/>
              </a:defRPr>
            </a:pPr>
            <a:r>
              <a:t>Power allocation must balance the weak user's reliability and the strong user's data rate.</a:t>
            </a:r>
          </a:p>
          <a:p>
            <a:pPr>
              <a:spcAft>
                <a:spcPts val="600"/>
              </a:spcAft>
              <a:defRPr sz="1500">
                <a:solidFill>
                  <a:srgbClr val="263240"/>
                </a:solidFill>
                <a:latin typeface="Aptos"/>
              </a:defRPr>
            </a:pPr>
            <a:r>
              <a:t>Fixed relay and power rules may not adapt to changing network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71600"/>
            <a:ext cx="3520440" cy="44805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664208"/>
            <a:ext cx="29718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CORE 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514600"/>
            <a:ext cx="29718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 i="0">
                <a:solidFill>
                  <a:srgbClr val="263240"/>
                </a:solidFill>
                <a:latin typeface="Georgia"/>
              </a:rPr>
              <a:t>Can Multi-Agent PPO learn to select a suitable relay and allocate transmission power using current network conditions?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Project Objectives &amp;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146304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Improve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800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Increase the sum of achievable rates for the two NOMA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146304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Select a Useful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47672"/>
            <a:ext cx="4800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Choose a candidate helper based on its simulated channel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5303520" cy="146304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Allocate Power Adaptively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76472"/>
            <a:ext cx="4800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Select a power split that supports the weak user while serving the strong user.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303520" cy="146304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Measure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76472"/>
            <a:ext cx="4800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Track SINR, outage probability and approximate BER.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74920"/>
            <a:ext cx="10835640" cy="7315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230368"/>
            <a:ext cx="10378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1F4D73"/>
                </a:solidFill>
                <a:latin typeface="Aptos"/>
              </a:rPr>
              <a:t>CORE METRICS: Throughput  |  SINR  |  Outage Probability  |  Approx. BER  |  Energy Efficiency  |  Power Consumption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Proposed Methodology &amp;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148840" cy="23317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 i="0">
                <a:solidFill>
                  <a:srgbClr val="255B8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87451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Generate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874519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Simulate channel gains, noise, interference and distances.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828800"/>
            <a:ext cx="2148840" cy="23317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1993392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 i="0">
                <a:solidFill>
                  <a:srgbClr val="255B8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514600"/>
            <a:ext cx="187451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108960"/>
            <a:ext cx="1874519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Both PPO agents receive a normalized network-state vector.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1828800"/>
            <a:ext cx="2148840" cy="23317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66944" y="1993392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 i="0">
                <a:solidFill>
                  <a:srgbClr val="255B87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514600"/>
            <a:ext cx="187451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Select Relay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3108960"/>
            <a:ext cx="1874519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Relay agent selects one of three candidate helpers.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1828800"/>
            <a:ext cx="2148840" cy="23317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6096" y="1993392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 i="0">
                <a:solidFill>
                  <a:srgbClr val="255B8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514600"/>
            <a:ext cx="187451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Allocate 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3108960"/>
            <a:ext cx="1874519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Power agent selects a discrete weak-user power fraction.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8088" y="1828800"/>
            <a:ext cx="2148840" cy="23317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85248" y="1993392"/>
            <a:ext cx="1874519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 i="0">
                <a:solidFill>
                  <a:srgbClr val="255B87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514600"/>
            <a:ext cx="187451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Evaluate &amp; 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3108960"/>
            <a:ext cx="1874519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Shared reward uses sum rate, energy efficiency and outage.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106984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1F4D73"/>
                </a:solidFill>
                <a:latin typeface="Aptos"/>
              </a:rPr>
              <a:t>Loop: Observe network → Choose helper relay → Select power split → Calculate reward and metrics → Update PPO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Software Stack &amp; Technical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749808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2011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44168"/>
            <a:ext cx="5852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Environment, training loop, evaluation and data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353312"/>
            <a:ext cx="2331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55B87"/>
                </a:solidFill>
                <a:latin typeface="Aptos"/>
              </a:rPr>
              <a:t>Core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67128"/>
            <a:ext cx="10881360" cy="749808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011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NumPy &amp;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76856"/>
            <a:ext cx="5852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Numerical channel simulation, data tables and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2331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55B87"/>
                </a:solidFill>
                <a:latin typeface="Aptos"/>
              </a:rPr>
              <a:t>Data and calculations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9816"/>
            <a:ext cx="10881360" cy="749808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18688"/>
            <a:ext cx="2011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9544"/>
            <a:ext cx="5852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Actor–critic neural networks and PPO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218688"/>
            <a:ext cx="2331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55B87"/>
                </a:solidFill>
                <a:latin typeface="Aptos"/>
              </a:rPr>
              <a:t>Reinforcement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32504"/>
            <a:ext cx="10881360" cy="749808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51376"/>
            <a:ext cx="2011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142232"/>
            <a:ext cx="5852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Training curves, EDA plots and baseline comparisons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151376"/>
            <a:ext cx="2331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55B87"/>
                </a:solidFill>
                <a:latin typeface="Aptos"/>
              </a:rPr>
              <a:t>Visual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65192"/>
            <a:ext cx="10881360" cy="749808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084064"/>
            <a:ext cx="2011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Google Colab / Jupyter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074920"/>
            <a:ext cx="5852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Interactive execution and 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084064"/>
            <a:ext cx="23317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55B87"/>
                </a:solidFill>
                <a:latin typeface="Aptos"/>
              </a:rPr>
              <a:t>Experiment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Synthetic Wireless Dataset &amp; State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2514600" cy="10515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17319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 i="0">
                <a:solidFill>
                  <a:srgbClr val="1F4D73"/>
                </a:solidFill>
                <a:latin typeface="Aptos"/>
              </a:rPr>
              <a:t>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01952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Synthetic 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514600" cy="10515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417319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 i="0">
                <a:solidFill>
                  <a:srgbClr val="1F4D7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901952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Candidate relays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514600" cy="10515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417319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 i="0">
                <a:solidFill>
                  <a:srgbClr val="1F4D73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901952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NOMA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280160"/>
            <a:ext cx="2514600" cy="10515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7" y="1417319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 i="0">
                <a:solidFill>
                  <a:srgbClr val="1F4D73"/>
                </a:solidFill>
                <a:latin typeface="Aptos"/>
              </a:rPr>
              <a:t>10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1901952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Fixed total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5212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FEATURES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82112"/>
            <a:ext cx="5029200" cy="22860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Direct channel gains for weak and strong users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Base-station-to-relay and relay-to-weak-user gains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Interference and noise power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Relay choice and power split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SINR, rates, throughput, outage, BER proxy and reward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4937760" cy="24688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017520"/>
            <a:ext cx="4434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DATASET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566160"/>
            <a:ext cx="443484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 i="0">
                <a:solidFill>
                  <a:srgbClr val="263240"/>
                </a:solidFill>
                <a:latin typeface="Aptos"/>
              </a:rPr>
              <a:t>The CSV is generated by the project's simulator with randomized actions. It is synthetic educational data, not a measured dataset from a live 5G/6G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Cooperative NOMA Network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492240" cy="43891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920240"/>
            <a:ext cx="1463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55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121408"/>
            <a:ext cx="1280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F4D73"/>
                </a:solidFill>
                <a:latin typeface="Aptos"/>
              </a:rPr>
              <a:t>Base Station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74519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55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2084831"/>
            <a:ext cx="1325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F4D73"/>
                </a:solidFill>
                <a:latin typeface="Aptos"/>
              </a:rPr>
              <a:t>Helper Relay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246120"/>
            <a:ext cx="1234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55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3456432"/>
            <a:ext cx="1051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1F4D73"/>
                </a:solidFill>
                <a:latin typeface="Aptos"/>
              </a:rPr>
              <a:t>Weak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29768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55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4498848"/>
            <a:ext cx="1234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1F4D73"/>
                </a:solidFill>
                <a:latin typeface="Aptos"/>
              </a:rPr>
              <a:t>Strong User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14600" y="2331720"/>
            <a:ext cx="1143000" cy="0"/>
          </a:xfrm>
          <a:prstGeom prst="line">
            <a:avLst/>
          </a:prstGeom>
          <a:ln w="25400">
            <a:solidFill>
              <a:srgbClr val="25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2423160"/>
            <a:ext cx="640080" cy="822960"/>
          </a:xfrm>
          <a:prstGeom prst="line">
            <a:avLst/>
          </a:prstGeom>
          <a:ln w="25400">
            <a:solidFill>
              <a:srgbClr val="25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2788920"/>
            <a:ext cx="548640" cy="1508760"/>
          </a:xfrm>
          <a:prstGeom prst="line">
            <a:avLst/>
          </a:prstGeom>
          <a:ln w="25400">
            <a:solidFill>
              <a:srgbClr val="255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1560" y="5349240"/>
            <a:ext cx="5806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1">
                <a:solidFill>
                  <a:srgbClr val="5F6771"/>
                </a:solidFill>
                <a:latin typeface="Aptos"/>
              </a:rPr>
              <a:t>Illustrative links; the simulator uses simplified channel-gain equations.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417320"/>
            <a:ext cx="3886200" cy="4297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1691640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MODEL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194560"/>
            <a:ext cx="3337560" cy="32004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Rayleigh-like fading and distance-based path loss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Additive noise and a simple interference term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Weak user benefits from a simplified two-hop relay link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Strong user is assumed to use ideal SIC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Rates are calculated using log₂(1 + SINR)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Simulation Environment: State, Actions &amp;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4297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Observation /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834640" cy="29260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Direct user channel gains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Candidate relay channel gains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Interference level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Noise level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Log-scaled normalized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297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Agent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834640" cy="29260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Relay agent: choose relay 0, 1 or 2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Power agent: choose a fraction from 0.55 to 0.90 for the weak user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Remaining power is allocated to the strong user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Total power remains fixed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520440" cy="4297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2926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Shared 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48840"/>
            <a:ext cx="28346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263240"/>
                </a:solidFill>
                <a:latin typeface="Aptos"/>
              </a:rPr>
              <a:t>Reward = sum rate + 0.15 × energy efficiency − 1.5 × outage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83280"/>
            <a:ext cx="2834640" cy="17373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Encourages higher rate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Rewards energy efficiency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Penalizes an outage event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PPO Objective &amp; Reward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10789920" cy="10515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28700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100" b="1" i="0">
                <a:solidFill>
                  <a:srgbClr val="1F4D73"/>
                </a:solidFill>
                <a:latin typeface="Aptos"/>
              </a:rPr>
              <a:t>R = (Rateweak + Ratestrong) + 0.15 × EnergyEfficiency − 1.5 × Outage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3429000" cy="19659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3063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1F4D73"/>
                </a:solidFill>
                <a:latin typeface="Aptos"/>
              </a:rPr>
              <a:t>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79"/>
            <a:ext cx="2971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263240"/>
                </a:solidFill>
                <a:latin typeface="Aptos"/>
              </a:rPr>
              <a:t>Sum of the two users' simplified achievable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788920"/>
            <a:ext cx="3429000" cy="19659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3017520"/>
            <a:ext cx="3063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1F4D73"/>
                </a:solidFill>
                <a:latin typeface="Aptos"/>
              </a:rPr>
              <a:t>Energy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79"/>
            <a:ext cx="2971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263240"/>
                </a:solidFill>
                <a:latin typeface="Aptos"/>
              </a:rPr>
              <a:t>Sum rate divided by the fixed normalized power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88920"/>
            <a:ext cx="3429000" cy="196596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017520"/>
            <a:ext cx="3063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1F4D73"/>
                </a:solidFill>
                <a:latin typeface="Aptos"/>
              </a:rPr>
              <a:t>Outage Penalty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11879"/>
            <a:ext cx="2971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263240"/>
                </a:solidFill>
                <a:latin typeface="Aptos"/>
              </a:rPr>
              <a:t>Penalty applies if either user's rate falls below the configured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1">
                <a:solidFill>
                  <a:srgbClr val="5F6771"/>
                </a:solidFill>
                <a:latin typeface="Aptos"/>
              </a:rPr>
              <a:t>Reward coefficients are design choices for this educational simulation and should be tested for sensitivity.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Baseline Methods for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2423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Random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380744"/>
            <a:ext cx="740664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Randomly selects a relay and a power 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13432"/>
            <a:ext cx="1069848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496312"/>
            <a:ext cx="2423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Fixed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59736"/>
            <a:ext cx="740664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Always selects relay 0 and uses a 0.70 weak-user power fraction.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92424"/>
            <a:ext cx="1069848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75304"/>
            <a:ext cx="2423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Conventional Heuristic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538728"/>
            <a:ext cx="740664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Chooses the relay with the strongest estimated relay-assisted link and a channel-aware power split.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71416"/>
            <a:ext cx="1069848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654296"/>
            <a:ext cx="2423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PPO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617720"/>
            <a:ext cx="740664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263240"/>
                </a:solidFill>
                <a:latin typeface="Aptos"/>
              </a:rPr>
              <a:t>Uses the trained relay and power policies to make state-dependent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PPO Agent Training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07008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197864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Clipped Proximal Policy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09928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773936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Policy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64792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Actor–critic MLP, 64 × 64 hidden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76856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40864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31720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Adam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43784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907791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Learning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98648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3 × 10⁻⁴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10712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Clip 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65576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0.20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041648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Update epochs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032503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5 per collected batch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44568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608576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Training episodes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599431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Configurable; default 300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11496"/>
            <a:ext cx="10607040" cy="438912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175504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F4D73"/>
                </a:solidFill>
                <a:latin typeface="Aptos"/>
              </a:rPr>
              <a:t>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166359"/>
            <a:ext cx="713232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Separate relay-selection and power-allocation PPO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Training Progress &amp; Reward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6492240" cy="43891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5943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1F4D73"/>
                </a:solidFill>
                <a:latin typeface="Aptos"/>
              </a:rPr>
              <a:t>GENERATE THIS GRAPH FROM YOUR ACTUAL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5669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0" i="0">
                <a:solidFill>
                  <a:srgbClr val="263240"/>
                </a:solidFill>
                <a:latin typeface="Aptos"/>
              </a:rPr>
              <a:t>Run src/train_evaluate.py. The script saves results/training_reward.png and results/training_log.csv. Insert the resulting graph here after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234440"/>
            <a:ext cx="3749039" cy="43891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WHAT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57400"/>
            <a:ext cx="3154680" cy="29260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Does the rolling reward improve?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Does reward stabilize?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Are outage and BER reduced?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Compare against the baselines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Use your measured output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Evaluation Metrics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16002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1732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92808"/>
            <a:ext cx="306324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Sum of weak-user and strong-user achievable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29000" cy="16002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41732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SINR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92808"/>
            <a:ext cx="306324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Signal power relative to interference and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429000" cy="16002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41732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Outage 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92808"/>
            <a:ext cx="306324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Fraction of evaluated samples below a rate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3429000" cy="16002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34290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Approx. 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904487"/>
            <a:ext cx="306324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Simplified BPSK-style error proxy; not a coded PHY result.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246120"/>
            <a:ext cx="3429000" cy="16002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34290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Energy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904487"/>
            <a:ext cx="306324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Throughput per normalized unit of transmit power.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246120"/>
            <a:ext cx="3429000" cy="16002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34290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Power Consumption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904487"/>
            <a:ext cx="306324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263240"/>
                </a:solidFill>
                <a:latin typeface="Aptos"/>
              </a:rPr>
              <a:t>Fixed budget in this version; therefore not a varying outcome.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Comparative Analysis: PPO vs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6492240" cy="43434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5943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RESULTS TABLE AND BAR CHARTS ARE GENERATED AFTER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557784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 i="0">
                <a:solidFill>
                  <a:srgbClr val="263240"/>
                </a:solidFill>
                <a:latin typeface="Aptos"/>
              </a:rPr>
              <a:t>Use results/baseline_summary.csv and results/comparison_throughput.png, comparison_outage.png, comparison_energy_efficiency.png and comparison_ber.png after running the evaluation 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234440"/>
            <a:ext cx="3749039" cy="43434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FAIR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57400"/>
            <a:ext cx="3154680" cy="29260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Evaluate every method on the same simulator assumptions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Use the same evaluation sample count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Report average metrics</a:t>
            </a:r>
          </a:p>
          <a:p>
            <a:pPr>
              <a:spcAft>
                <a:spcPts val="600"/>
              </a:spcAft>
              <a:defRPr sz="1200">
                <a:solidFill>
                  <a:srgbClr val="263240"/>
                </a:solidFill>
                <a:latin typeface="Aptos"/>
              </a:defRPr>
            </a:pPr>
            <a:r>
              <a:t>Do not assume PPO wins before checking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How to Read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16459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4800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If throughput 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754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The selected relay and power split may be improving aggregate data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257800" cy="16459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4800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If outage falls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39112"/>
            <a:ext cx="4754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More evaluated states meet the minimum-rate condition.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83280"/>
            <a:ext cx="5257800" cy="16459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84448"/>
            <a:ext cx="4800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If BER proxy 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4754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The simulated links have stronger SINR under the approximate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383280"/>
            <a:ext cx="5257800" cy="16459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584448"/>
            <a:ext cx="4800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F4D73"/>
                </a:solidFill>
                <a:latin typeface="Aptos"/>
              </a:rPr>
              <a:t>If PPO underperforms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96512"/>
            <a:ext cx="4754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Increase training, test seeds, inspect reward scaling and compare the state/action design.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65960"/>
            <a:ext cx="2148840" cy="18288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224028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Network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874519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Channel gains, noise, interference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60604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255B8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965960"/>
            <a:ext cx="2148840" cy="18288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Relay PPO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834640"/>
            <a:ext cx="1874519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Choose candidate helper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60604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255B8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1965960"/>
            <a:ext cx="2148840" cy="18288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512" y="224028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Power PPO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834640"/>
            <a:ext cx="1874519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Choose weak-user power fraction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60604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255B8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1965960"/>
            <a:ext cx="2148840" cy="18288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98663" y="224028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NOMA 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834640"/>
            <a:ext cx="1874519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Calculate SINR, rates and outage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260604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255B8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8088" y="1965960"/>
            <a:ext cx="2148840" cy="182880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57815" y="2240280"/>
            <a:ext cx="1920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i="0">
                <a:solidFill>
                  <a:srgbClr val="1F4D73"/>
                </a:solidFill>
                <a:latin typeface="Aptos"/>
              </a:rPr>
              <a:t>Shared 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834640"/>
            <a:ext cx="1874519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263240"/>
                </a:solidFill>
                <a:latin typeface="Aptos"/>
              </a:rPr>
              <a:t>Update both policies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5F6771"/>
                </a:solidFill>
                <a:latin typeface="Aptos"/>
              </a:rPr>
              <a:t>The environment returns a new randomized network state each step; each decision is evaluated with a shared reward.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212080" cy="43891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572000" cy="30175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Simplified channel and relay-link equations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One-step episodes and independent PPO policies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Fixed total transmit power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Approximate BER and ideal SIC assumptions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Synthetic data, not field measurements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212080" cy="438912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663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1F4D73"/>
                </a:solidFill>
                <a:latin typeface="Aptos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4572000" cy="30175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Add realistic Rayleigh/Rician and mobility models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Use continuous power allocation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Test more users and relay candidates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Use multi-seed statistical evaluation</a:t>
            </a:r>
          </a:p>
          <a:p>
            <a:pPr>
              <a:spcAft>
                <a:spcPts val="600"/>
              </a:spcAft>
              <a:defRPr sz="1300">
                <a:solidFill>
                  <a:srgbClr val="263240"/>
                </a:solidFill>
                <a:latin typeface="Aptos"/>
              </a:defRPr>
            </a:pPr>
            <a:r>
              <a:t>Explore centralized training with decentralized execution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112471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55B87"/>
                </a:solidFill>
                <a:latin typeface="Aptos"/>
              </a:rPr>
              <a:t>MACHINE LEARNING (25SC2107E)  |  DEPARTMENT OF 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75488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i="0">
                <a:solidFill>
                  <a:srgbClr val="1F4D73"/>
                </a:solidFill>
                <a:latin typeface="Georgia"/>
              </a:rPr>
              <a:t>Project Conclusion &amp; Research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 i="0">
                <a:solidFill>
                  <a:srgbClr val="5F6771"/>
                </a:solidFill>
                <a:latin typeface="Aptos"/>
              </a:rPr>
              <a:t>MULTI-AGENT PPO-BASED RELAY SELECTION AND POWER ALLOCATION  |  Dept. of 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537960"/>
            <a:ext cx="2743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 i="0">
                <a:solidFill>
                  <a:srgbClr val="5F6771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5276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380744"/>
            <a:ext cx="31089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1. Joint Resource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344168"/>
            <a:ext cx="6858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Relay selection and power allocation are modeled as two PPO decision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0008"/>
            <a:ext cx="1065276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496312"/>
            <a:ext cx="31089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2. Adaptive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59736"/>
            <a:ext cx="6858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The agents learn from simulator feedback rather than using only fixed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65576"/>
            <a:ext cx="1065276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611880"/>
            <a:ext cx="31089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3. Quantitative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575304"/>
            <a:ext cx="6858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Throughput, SINR, outage, approximate BER and energy efficiency are recorded.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81144"/>
            <a:ext cx="10652760" cy="8686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31089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F4D73"/>
                </a:solidFill>
                <a:latin typeface="Aptos"/>
              </a:rPr>
              <a:t>4. Reproducible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690872"/>
            <a:ext cx="6858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263240"/>
                </a:solidFill>
                <a:latin typeface="Aptos"/>
              </a:rPr>
              <a:t>The code can be extended with richer channels, mobility and more users.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8992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200" b="1" i="0">
                <a:solidFill>
                  <a:srgbClr val="1F4D73"/>
                </a:solidFill>
                <a:latin typeface="Georgia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789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 i="0">
                <a:solidFill>
                  <a:srgbClr val="5F6771"/>
                </a:solidFill>
                <a:latin typeface="Georgia"/>
              </a:rPr>
              <a:t>Questions &amp; Open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0332720" cy="1554480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3886200"/>
            <a:ext cx="9692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1F4D73"/>
                </a:solidFill>
                <a:latin typeface="Aptos"/>
              </a:rPr>
              <a:t>Project: Multi-Agent PPO-Based Relay Selection and Power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315968"/>
            <a:ext cx="9692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 i="0">
                <a:solidFill>
                  <a:srgbClr val="263240"/>
                </a:solidFill>
                <a:latin typeface="Aptos"/>
              </a:rPr>
              <a:t>Course: Machine Learning (25SC2107E)  |  A.Y.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709160"/>
            <a:ext cx="9692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 i="0">
                <a:solidFill>
                  <a:srgbClr val="263240"/>
                </a:solidFill>
                <a:latin typeface="Aptos"/>
              </a:rPr>
              <a:t>Guide: Mr. N Lava Prasad  |  Department of 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255B87"/>
                </a:solidFill>
                <a:latin typeface="Aptos"/>
              </a:rPr>
              <a:t>G. Harshith  •  V. Shivadarahas  •  B. Pavan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 Academic">
      <a:dk1>
        <a:srgbClr val="1F2A44"/>
      </a:dk1>
      <a:lt1>
        <a:srgbClr val="FFFFFF"/>
      </a:lt1>
      <a:dk2>
        <a:srgbClr val="1F4E79"/>
      </a:dk2>
      <a:lt2>
        <a:srgbClr val="EAF1F8"/>
      </a:lt2>
      <a:accent1>
        <a:srgbClr val="1F4E79"/>
      </a:accent1>
      <a:accent2>
        <a:srgbClr val="2E7D32"/>
      </a:accent2>
      <a:accent3>
        <a:srgbClr val="C0392B"/>
      </a:accent3>
      <a:accent4>
        <a:srgbClr val="D9822B"/>
      </a:accent4>
      <a:accent5>
        <a:srgbClr val="2E86C1"/>
      </a:accent5>
      <a:accent6>
        <a:srgbClr val="5B6577"/>
      </a:accent6>
      <a:hlink>
        <a:srgbClr val="1F4E79"/>
      </a:hlink>
      <a:folHlink>
        <a:srgbClr val="5B6577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1867</Words>
  <Application>Microsoft Office PowerPoint</Application>
  <PresentationFormat>Widescreen</PresentationFormat>
  <Paragraphs>298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Ramakrishna Gudla</cp:lastModifiedBy>
  <cp:revision>2</cp:revision>
  <dcterms:created xsi:type="dcterms:W3CDTF">2013-01-27T09:14:16Z</dcterms:created>
  <dcterms:modified xsi:type="dcterms:W3CDTF">2026-10-15T03:47:51Z</dcterms:modified>
  <cp:category/>
</cp:coreProperties>
</file>