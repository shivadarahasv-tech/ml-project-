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embeddedFontLst>
    <p:embeddedFont>
      <p:font typeface="Plus Jakarta Sans"/>
      <p:bold r:id="rId12"/>
      <p:italic r:id="rId13"/>
    </p:embeddedFont>
    <p:embeddedFont>
      <p:font typeface="Space Grotesk"/>
      <p:bold r:id="rId1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874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10" Type="http://schemas.openxmlformats.org/officeDocument/2006/relationships/image" Target="../media/image28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533400"/>
            <a:ext cx="2867025" cy="304800"/>
          </a:xfrm>
          <a:prstGeom prst="roundRect">
            <a:avLst>
              <a:gd name="adj" fmla="val 50000"/>
            </a:avLst>
          </a:prstGeom>
          <a:solidFill>
            <a:srgbClr val="0E2F44"/>
          </a:solidFill>
          <a:ln w="9525">
            <a:solidFill>
              <a:srgbClr val="1B49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590925" y="542925"/>
            <a:ext cx="1857375" cy="285750"/>
          </a:xfrm>
          <a:prstGeom prst="roundRect">
            <a:avLst>
              <a:gd name="adj" fmla="val 50000"/>
            </a:avLst>
          </a:prstGeom>
          <a:solidFill>
            <a:srgbClr val="222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5524500"/>
            <a:ext cx="3530649" cy="800100"/>
          </a:xfrm>
          <a:prstGeom prst="roundRect">
            <a:avLst>
              <a:gd name="adj" fmla="val 14285"/>
            </a:avLst>
          </a:prstGeom>
          <a:solidFill>
            <a:srgbClr val="1A2436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330749" y="5524500"/>
            <a:ext cx="3530649" cy="800100"/>
          </a:xfrm>
          <a:prstGeom prst="roundRect">
            <a:avLst>
              <a:gd name="adj" fmla="val 14285"/>
            </a:avLst>
          </a:prstGeom>
          <a:solidFill>
            <a:srgbClr val="1A2436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051899" y="5524500"/>
            <a:ext cx="3530649" cy="800100"/>
          </a:xfrm>
          <a:prstGeom prst="roundRect">
            <a:avLst>
              <a:gd name="adj" fmla="val 14285"/>
            </a:avLst>
          </a:prstGeom>
          <a:solidFill>
            <a:srgbClr val="1A2436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5724525"/>
            <a:ext cx="400050" cy="4000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8874" y="5724525"/>
            <a:ext cx="400050" cy="4000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0024" y="5724525"/>
            <a:ext cx="400050" cy="4000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" y="5838825"/>
            <a:ext cx="152400" cy="1714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92699" y="5838825"/>
            <a:ext cx="152400" cy="1714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13849" y="5838825"/>
            <a:ext cx="152400" cy="1714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09600" y="1066800"/>
            <a:ext cx="10601325" cy="9044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850" b="1" i="0" u="none" dirty="0">
                <a:solidFill>
                  <a:srgbClr val="FFFFFF"/>
                </a:solidFill>
                <a:latin typeface="Plus Jakarta Sans"/>
              </a:rPr>
              <a:t>Multi-Agent PPO-Based Relay Selection and Power Allocation for Cooperative NOMA Networks</a:t>
            </a:r>
            <a:endParaRPr sz="2850" b="1" i="0" u="none" dirty="0">
              <a:solidFill>
                <a:srgbClr val="FFFFFF"/>
              </a:solidFill>
              <a:latin typeface="Plus Jakarta San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09600" y="2124075"/>
            <a:ext cx="10120312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94A3B8"/>
                </a:solidFill>
                <a:latin typeface="Plus Jakarta Sans"/>
              </a:rPr>
              <a:t>Using Multi-Agent AI to Pick the Best Signal Boosters and Save Energy Automatically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520065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8BDF8"/>
                </a:solidFill>
                <a:latin typeface="Space Grotesk"/>
              </a:rPr>
              <a:t>TEAM MEMBERS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" y="590550"/>
            <a:ext cx="265747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8BDF8"/>
                </a:solidFill>
                <a:latin typeface="Space Grotesk"/>
              </a:rPr>
              <a:t>Course: Machine Learning – 25SC2107E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3325" y="600075"/>
            <a:ext cx="164782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CBD5E1"/>
                </a:solidFill>
                <a:latin typeface="Plus Jakarta Sans"/>
              </a:rPr>
              <a:t>Academic Year: 2026–27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0175" y="5705475"/>
            <a:ext cx="128016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8FAFC"/>
                </a:solidFill>
                <a:latin typeface="Plus Jakarta Sans"/>
              </a:rPr>
              <a:t>G. Harshith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00175" y="5962650"/>
            <a:ext cx="12192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38BDF8"/>
                </a:solidFill>
                <a:latin typeface="Space Grotesk"/>
              </a:rPr>
              <a:t>2520040079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1324" y="5705475"/>
            <a:ext cx="1737717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8FAFC"/>
                </a:solidFill>
                <a:latin typeface="Plus Jakarta Sans"/>
              </a:rPr>
              <a:t>V. Shivadarahas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1324" y="5962650"/>
            <a:ext cx="1654968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38BDF8"/>
                </a:solidFill>
                <a:latin typeface="Space Grotesk"/>
              </a:rPr>
              <a:t>2520040038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42474" y="5705475"/>
            <a:ext cx="1230153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8FAFC"/>
                </a:solidFill>
                <a:latin typeface="Plus Jakarta Sans"/>
              </a:rPr>
              <a:t>B. Pavan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42474" y="5962650"/>
            <a:ext cx="117157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38BDF8"/>
                </a:solidFill>
                <a:latin typeface="Space Grotesk"/>
              </a:rPr>
              <a:t>2520040102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79890" y="1462087"/>
            <a:ext cx="4602509" cy="4819650"/>
          </a:xfrm>
          <a:prstGeom prst="roundRect">
            <a:avLst>
              <a:gd name="adj" fmla="val 3311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600" y="1547812"/>
            <a:ext cx="5989290" cy="962025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09600" y="2662237"/>
            <a:ext cx="5989290" cy="74295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09600" y="3557587"/>
            <a:ext cx="5989290" cy="2047875"/>
          </a:xfrm>
          <a:prstGeom prst="roundRect">
            <a:avLst>
              <a:gd name="adj" fmla="val 5581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09600" y="1547812"/>
            <a:ext cx="38100" cy="96202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09600" y="2662237"/>
            <a:ext cx="38100" cy="74295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284690" y="2166937"/>
            <a:ext cx="3992909" cy="933450"/>
          </a:xfrm>
          <a:prstGeom prst="roundRect">
            <a:avLst>
              <a:gd name="adj" fmla="val 12244"/>
            </a:avLst>
          </a:prstGeom>
          <a:solidFill>
            <a:srgbClr val="222A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284690" y="3595687"/>
            <a:ext cx="3992909" cy="952500"/>
          </a:xfrm>
          <a:prstGeom prst="roundRect">
            <a:avLst>
              <a:gd name="adj" fmla="val 12000"/>
            </a:avLst>
          </a:prstGeom>
          <a:solidFill>
            <a:srgbClr val="0D374C"/>
          </a:solidFill>
          <a:ln w="19050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284690" y="5043487"/>
            <a:ext cx="3992909" cy="933450"/>
          </a:xfrm>
          <a:prstGeom prst="roundRect">
            <a:avLst>
              <a:gd name="adj" fmla="val 12244"/>
            </a:avLst>
          </a:prstGeom>
          <a:solidFill>
            <a:srgbClr val="222A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09633" y="3252787"/>
            <a:ext cx="142875" cy="1905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09633" y="4700587"/>
            <a:ext cx="142875" cy="1905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52483" y="2309812"/>
            <a:ext cx="257175" cy="2286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38195" y="3748087"/>
            <a:ext cx="285750" cy="2286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95345" y="5186362"/>
            <a:ext cx="171450" cy="2286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0100" y="4191000"/>
            <a:ext cx="133350" cy="14287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0100" y="4667250"/>
            <a:ext cx="133350" cy="14287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0100" y="5143500"/>
            <a:ext cx="133350" cy="14287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09600" y="457200"/>
            <a:ext cx="11068050" cy="619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Basic Concept Made Simple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600" y="695325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Introduction: How Does This Network Work?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600" y="5795962"/>
            <a:ext cx="608454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💡 Simple Goal: We build a smart AI system that automatically picks the best helper device and sets the exact right power level in real time.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52420" y="1766887"/>
            <a:ext cx="157162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8BDF8"/>
                </a:solidFill>
                <a:latin typeface="Space Grotesk"/>
              </a:rPr>
              <a:t>HOW DATA MOVES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8200" y="1700212"/>
            <a:ext cx="5665440" cy="657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E293B"/>
                </a:solidFill>
                <a:latin typeface="Plus Jakarta Sans"/>
              </a:rPr>
              <a:t>Sharing the Same Airwaves (NOMA): Allows multiple mobile phones to send data over the exact same frequency at the same time, doubling network speed.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200" y="2814637"/>
            <a:ext cx="566544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E293B"/>
                </a:solidFill>
                <a:latin typeface="Plus Jakarta Sans"/>
              </a:rPr>
              <a:t>Helper Nodes (Relays): Intermediate devices act as middle-men to boost signals when a user is far away or blocked by walls.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0100" y="3748087"/>
            <a:ext cx="7010362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3 Main Challenges Every Second: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8700" y="4062412"/>
            <a:ext cx="5474940" cy="4000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 u="none">
                <a:solidFill>
                  <a:srgbClr val="334155"/>
                </a:solidFill>
                <a:latin typeface="Plus Jakarta Sans"/>
              </a:rPr>
              <a:t>Changing Signals:</a:t>
            </a:r>
            <a:r>
              <a:rPr sz="1200" b="0" i="0" u="none">
                <a:solidFill>
                  <a:srgbClr val="334155"/>
                </a:solidFill>
                <a:latin typeface="Plus Jakarta Sans"/>
              </a:rPr>
              <a:t> Buildings and movement constantly block connection quality.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8700" y="4538662"/>
            <a:ext cx="5474940" cy="4000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 u="none">
                <a:solidFill>
                  <a:srgbClr val="334155"/>
                </a:solidFill>
                <a:latin typeface="Plus Jakarta Sans"/>
              </a:rPr>
              <a:t>Battery &amp; Power:</a:t>
            </a:r>
            <a:r>
              <a:rPr sz="1200" b="0" i="0" u="none">
                <a:solidFill>
                  <a:srgbClr val="334155"/>
                </a:solidFill>
                <a:latin typeface="Plus Jakarta Sans"/>
              </a:rPr>
              <a:t> Deciding how much power helpers should use to boost signals.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8700" y="5014912"/>
            <a:ext cx="5474940" cy="4000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 u="none">
                <a:solidFill>
                  <a:srgbClr val="334155"/>
                </a:solidFill>
                <a:latin typeface="Plus Jakarta Sans"/>
              </a:rPr>
              <a:t>Background Noise:</a:t>
            </a:r>
            <a:r>
              <a:rPr sz="1200" b="0" i="0" u="none">
                <a:solidFill>
                  <a:srgbClr val="334155"/>
                </a:solidFill>
                <a:latin typeface="Plus Jakarta Sans"/>
              </a:rPr>
              <a:t> Interference from nearby phones talking at the same time.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64170" y="2595562"/>
            <a:ext cx="4633949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FFFFFF"/>
                </a:solidFill>
                <a:latin typeface="Plus Jakarta Sans"/>
              </a:rPr>
              <a:t>Main Cell Tower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64170" y="2814637"/>
            <a:ext cx="4633949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0" i="0" u="none">
                <a:solidFill>
                  <a:srgbClr val="94A3B8"/>
                </a:solidFill>
                <a:latin typeface="Plus Jakarta Sans"/>
              </a:rPr>
              <a:t>Sends weak signal across long distance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76076" y="4033837"/>
            <a:ext cx="461013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FFFFFF"/>
                </a:solidFill>
                <a:latin typeface="Plus Jakarta Sans"/>
              </a:rPr>
              <a:t>AI-Selected Helper Device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76076" y="4252912"/>
            <a:ext cx="4610137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0" i="0" u="none">
                <a:solidFill>
                  <a:srgbClr val="38BDF8"/>
                </a:solidFill>
                <a:latin typeface="Plus Jakarta Sans"/>
              </a:rPr>
              <a:t>Boosts signal strength &amp; removes noise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64170" y="5472112"/>
            <a:ext cx="4633949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FFFFFF"/>
                </a:solidFill>
                <a:latin typeface="Plus Jakarta Sans"/>
              </a:rPr>
              <a:t>User's Smartphone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64170" y="5691187"/>
            <a:ext cx="4633949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0" i="0" u="none">
                <a:solidFill>
                  <a:srgbClr val="94A3B8"/>
                </a:solidFill>
                <a:latin typeface="Plus Jakarta Sans"/>
              </a:rPr>
              <a:t>Receives clear, uninterrupted data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5924550"/>
            <a:ext cx="10972800" cy="514350"/>
          </a:xfrm>
          <a:prstGeom prst="roundRect">
            <a:avLst>
              <a:gd name="adj" fmla="val 22222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1247775"/>
            <a:ext cx="5391150" cy="2147887"/>
          </a:xfrm>
          <a:prstGeom prst="roundRect">
            <a:avLst>
              <a:gd name="adj" fmla="val 6208"/>
            </a:avLst>
          </a:prstGeom>
          <a:solidFill>
            <a:srgbClr val="FFF5F5"/>
          </a:solidFill>
          <a:ln w="9525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191250" y="1247775"/>
            <a:ext cx="5391150" cy="2147887"/>
          </a:xfrm>
          <a:prstGeom prst="roundRect">
            <a:avLst>
              <a:gd name="adj" fmla="val 6208"/>
            </a:avLst>
          </a:prstGeom>
          <a:solidFill>
            <a:srgbClr val="FFF5F5"/>
          </a:solidFill>
          <a:ln w="9525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09600" y="3586162"/>
            <a:ext cx="5391150" cy="2147887"/>
          </a:xfrm>
          <a:prstGeom prst="roundRect">
            <a:avLst>
              <a:gd name="adj" fmla="val 6208"/>
            </a:avLst>
          </a:prstGeom>
          <a:solidFill>
            <a:srgbClr val="FFF5F5"/>
          </a:solidFill>
          <a:ln w="9525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191250" y="3586162"/>
            <a:ext cx="5391150" cy="2147887"/>
          </a:xfrm>
          <a:prstGeom prst="roundRect">
            <a:avLst>
              <a:gd name="adj" fmla="val 6208"/>
            </a:avLst>
          </a:prstGeom>
          <a:solidFill>
            <a:srgbClr val="FFF5F5"/>
          </a:solidFill>
          <a:ln w="9525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6076950"/>
            <a:ext cx="209550" cy="2095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675" y="1466850"/>
            <a:ext cx="419100" cy="4191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0325" y="1466850"/>
            <a:ext cx="419100" cy="4191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8675" y="3805237"/>
            <a:ext cx="419100" cy="4191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10325" y="3805237"/>
            <a:ext cx="419100" cy="4191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48437" y="1581150"/>
            <a:ext cx="142875" cy="1905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8687" y="3919537"/>
            <a:ext cx="219075" cy="1905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00812" y="3919537"/>
            <a:ext cx="238125" cy="1905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09600" y="419100"/>
            <a:ext cx="1106805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DC2626"/>
                </a:solidFill>
                <a:latin typeface="Plus Jakarta Sans"/>
              </a:rPr>
              <a:t>Why Standard Systems Fail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638175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Problem Statement: 4 Major Limitations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00150" y="6081712"/>
            <a:ext cx="1099185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1" i="0" u="none">
                <a:solidFill>
                  <a:srgbClr val="F8FAFC"/>
                </a:solidFill>
                <a:latin typeface="Plus Jakarta Sans"/>
              </a:rPr>
              <a:t>Main Takeaway: Old fixed systems cannot deliver high speed, low latency, and good battery life all at once in modern networks.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0175" y="1466850"/>
            <a:ext cx="5750718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991B1B"/>
                </a:solidFill>
                <a:latin typeface="Plus Jakarta Sans"/>
              </a:rPr>
              <a:t>1. Unpredictable Signals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00175" y="1743075"/>
            <a:ext cx="44767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7F1D1D"/>
                </a:solidFill>
                <a:latin typeface="Plus Jakarta Sans"/>
              </a:rPr>
              <a:t>People moving around, trees, and buildings cause signals to drop unexpectedly, making standard connections unstable.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81825" y="1466850"/>
            <a:ext cx="521017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991B1B"/>
                </a:solidFill>
                <a:latin typeface="Plus Jakarta Sans"/>
              </a:rPr>
              <a:t>2. Too Complex for Math Formulas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81825" y="1743075"/>
            <a:ext cx="44767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7F1D1D"/>
                </a:solidFill>
                <a:latin typeface="Plus Jakarta Sans"/>
              </a:rPr>
              <a:t>Picking the best helper and calculating exact power levels for hundreds of devices takes too long with traditional math.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0175" y="3805237"/>
            <a:ext cx="5750718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991B1B"/>
                </a:solidFill>
                <a:latin typeface="Plus Jakarta Sans"/>
              </a:rPr>
              <a:t>3. Wasted Battery &amp; Extra Noise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00175" y="4081462"/>
            <a:ext cx="44767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7F1D1D"/>
                </a:solidFill>
                <a:latin typeface="Plus Jakarta Sans"/>
              </a:rPr>
              <a:t>Bad power settings quickly drain device batteries and create background noise that interferes with nearby phones.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81825" y="3805237"/>
            <a:ext cx="521017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991B1B"/>
                </a:solidFill>
                <a:latin typeface="Plus Jakarta Sans"/>
              </a:rPr>
              <a:t>4. Rigid Old Rules Don't Adapt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81825" y="4081462"/>
            <a:ext cx="44767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7F1D1D"/>
                </a:solidFill>
                <a:latin typeface="Plus Jakarta Sans"/>
              </a:rPr>
              <a:t>Old systems use fixed rules that cannot adjust instantly when new users connect or when signal strength changes.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4276725"/>
            <a:ext cx="10972800" cy="923925"/>
          </a:xfrm>
          <a:prstGeom prst="roundRect">
            <a:avLst>
              <a:gd name="adj" fmla="val 14432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1247775"/>
            <a:ext cx="3430785" cy="2800350"/>
          </a:xfrm>
          <a:prstGeom prst="roundRect">
            <a:avLst>
              <a:gd name="adj" fmla="val 476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230885" y="1247775"/>
            <a:ext cx="3730079" cy="2800350"/>
          </a:xfrm>
          <a:prstGeom prst="roundRect">
            <a:avLst>
              <a:gd name="adj" fmla="val 4761"/>
            </a:avLst>
          </a:prstGeom>
          <a:solidFill>
            <a:srgbClr val="F0F9FF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151465" y="1247775"/>
            <a:ext cx="3430785" cy="2800350"/>
          </a:xfrm>
          <a:prstGeom prst="roundRect">
            <a:avLst>
              <a:gd name="adj" fmla="val 476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76300" y="4705350"/>
            <a:ext cx="1343025" cy="323850"/>
          </a:xfrm>
          <a:prstGeom prst="roundRect">
            <a:avLst>
              <a:gd name="adj" fmla="val 23529"/>
            </a:avLst>
          </a:prstGeom>
          <a:solidFill>
            <a:srgbClr val="272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717726" y="4705350"/>
            <a:ext cx="1409700" cy="323850"/>
          </a:xfrm>
          <a:prstGeom prst="roundRect">
            <a:avLst>
              <a:gd name="adj" fmla="val 23529"/>
            </a:avLst>
          </a:prstGeom>
          <a:solidFill>
            <a:srgbClr val="272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625828" y="4705350"/>
            <a:ext cx="1724025" cy="323850"/>
          </a:xfrm>
          <a:prstGeom prst="roundRect">
            <a:avLst>
              <a:gd name="adj" fmla="val 23529"/>
            </a:avLst>
          </a:prstGeom>
          <a:solidFill>
            <a:srgbClr val="272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9848254" y="4705350"/>
            <a:ext cx="1466850" cy="323850"/>
          </a:xfrm>
          <a:prstGeom prst="roundRect">
            <a:avLst>
              <a:gd name="adj" fmla="val 23529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449960" y="2228850"/>
            <a:ext cx="3291929" cy="752475"/>
          </a:xfrm>
          <a:prstGeom prst="roundRect">
            <a:avLst>
              <a:gd name="adj" fmla="val 10126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449960" y="3076575"/>
            <a:ext cx="3291929" cy="752475"/>
          </a:xfrm>
          <a:prstGeom prst="roundRect">
            <a:avLst>
              <a:gd name="adj" fmla="val 10126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1375" y="4800600"/>
            <a:ext cx="114300" cy="1333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9477" y="4800600"/>
            <a:ext cx="114300" cy="1333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1903" y="4800600"/>
            <a:ext cx="114300" cy="1333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675" y="1466850"/>
            <a:ext cx="342900" cy="3429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9960" y="1466850"/>
            <a:ext cx="342900" cy="3429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70540" y="1466850"/>
            <a:ext cx="342900" cy="3429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" y="1562100"/>
            <a:ext cx="171450" cy="1524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45210" y="1562100"/>
            <a:ext cx="152400" cy="1524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65790" y="1562100"/>
            <a:ext cx="152400" cy="1524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8675" y="2271712"/>
            <a:ext cx="95250" cy="9525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8675" y="2547937"/>
            <a:ext cx="95250" cy="9525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8675" y="2824162"/>
            <a:ext cx="95250" cy="9525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8675" y="3100387"/>
            <a:ext cx="95250" cy="9525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70540" y="2271712"/>
            <a:ext cx="95250" cy="9525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70540" y="2547937"/>
            <a:ext cx="95250" cy="9525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70540" y="2914650"/>
            <a:ext cx="95250" cy="9525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09600" y="419100"/>
            <a:ext cx="1106805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Our Solution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9600" y="638175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Proposed Solution: How the AI Brain Works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6300" y="4448175"/>
            <a:ext cx="113157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38BDF8"/>
                </a:solidFill>
                <a:latin typeface="Space Grotesk"/>
              </a:rPr>
              <a:t>CONTINUOUS AI LEARNING CYCLE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8675" y="1943100"/>
            <a:ext cx="3740794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4748B"/>
                </a:solidFill>
                <a:latin typeface="Plus Jakarta Sans"/>
              </a:rPr>
              <a:t>Real-Time Environment Data: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49960" y="1943100"/>
            <a:ext cx="4114911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Smart Instant Choices: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70540" y="1943100"/>
            <a:ext cx="3740794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4748B"/>
                </a:solidFill>
                <a:latin typeface="Plus Jakarta Sans"/>
              </a:rPr>
              <a:t>Reinforcement Learning: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8700" y="4781550"/>
            <a:ext cx="113347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FFFFFF"/>
                </a:solidFill>
                <a:latin typeface="Plus Jakarta Sans"/>
              </a:rPr>
              <a:t>1. Check Signals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870126" y="4781550"/>
            <a:ext cx="12001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FFFFFF"/>
                </a:solidFill>
                <a:latin typeface="Plus Jakarta Sans"/>
              </a:rPr>
              <a:t>2. AI Picks Helper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78228" y="4781550"/>
            <a:ext cx="151447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FFFFFF"/>
                </a:solidFill>
                <a:latin typeface="Plus Jakarta Sans"/>
              </a:rPr>
              <a:t>3. Score Performance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00654" y="4781550"/>
            <a:ext cx="12573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FFFFFF"/>
                </a:solidFill>
                <a:latin typeface="Plus Jakarta Sans"/>
              </a:rPr>
              <a:t>4. AI Gets Smarter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66825" y="1528762"/>
            <a:ext cx="292536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1. What the AI Sees (Inputs)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0125" y="2228850"/>
            <a:ext cx="3569344" cy="18097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125" b="0" i="0" u="none">
                <a:solidFill>
                  <a:srgbClr val="334155"/>
                </a:solidFill>
                <a:latin typeface="Plus Jakarta Sans"/>
              </a:rPr>
              <a:t>Current Signal Strength &amp; Distance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0125" y="2505075"/>
            <a:ext cx="3569344" cy="18097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125" b="0" i="0" u="none">
                <a:solidFill>
                  <a:srgbClr val="334155"/>
                </a:solidFill>
                <a:latin typeface="Plus Jakarta Sans"/>
              </a:rPr>
              <a:t>Background Noise Levels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0125" y="2781300"/>
            <a:ext cx="3569344" cy="18097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125" b="0" i="0" u="none">
                <a:solidFill>
                  <a:srgbClr val="334155"/>
                </a:solidFill>
                <a:latin typeface="Plus Jakarta Sans"/>
              </a:rPr>
              <a:t>User Speed Requirements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0125" y="3057525"/>
            <a:ext cx="3569344" cy="18097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125" b="0" i="0" u="none">
                <a:solidFill>
                  <a:srgbClr val="334155"/>
                </a:solidFill>
                <a:latin typeface="Plus Jakarta Sans"/>
              </a:rPr>
              <a:t>Remaining Battery on Helpers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88110" y="1528762"/>
            <a:ext cx="3500437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369A1"/>
                </a:solidFill>
                <a:latin typeface="Plus Jakarta Sans"/>
              </a:rPr>
              <a:t>2. What the AI Decides (Actions)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808690" y="1528762"/>
            <a:ext cx="220027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3. How the AI Learns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41990" y="2228850"/>
            <a:ext cx="3569344" cy="18097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125" b="0" i="0" u="none">
                <a:solidFill>
                  <a:srgbClr val="334155"/>
                </a:solidFill>
                <a:latin typeface="Plus Jakarta Sans"/>
              </a:rPr>
              <a:t>Uses a "Worker &amp; Coach" AI model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41990" y="2505075"/>
            <a:ext cx="3569344" cy="18097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125" b="0" i="0" u="none">
                <a:solidFill>
                  <a:srgbClr val="334155"/>
                </a:solidFill>
                <a:latin typeface="Plus Jakarta Sans"/>
              </a:rPr>
              <a:t>Learns by trial and error in milliseconds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41990" y="2781300"/>
            <a:ext cx="2916435" cy="3619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25" b="0" i="0" u="none">
                <a:solidFill>
                  <a:srgbClr val="334155"/>
                </a:solidFill>
                <a:latin typeface="Plus Jakarta Sans"/>
              </a:rPr>
              <a:t>Gets "points" for high speed and saved power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92835" y="2352675"/>
            <a:ext cx="3757724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Plus Jakarta Sans"/>
              </a:rPr>
              <a:t>A. Pick Best Helper Device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92835" y="2552700"/>
            <a:ext cx="3101429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475569"/>
                </a:solidFill>
                <a:latin typeface="Plus Jakarta Sans"/>
              </a:rPr>
              <a:t>Selects the single best helper node for weak phones.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92835" y="3200400"/>
            <a:ext cx="3757724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Plus Jakarta Sans"/>
              </a:rPr>
              <a:t>B. Set Exact Power Level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92835" y="3400425"/>
            <a:ext cx="3101429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475569"/>
                </a:solidFill>
                <a:latin typeface="Plus Jakarta Sans"/>
              </a:rPr>
              <a:t>Calculates the exact transmit power needed to avoid noise.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143125"/>
            <a:ext cx="6656784" cy="3343275"/>
          </a:xfrm>
          <a:prstGeom prst="roundRect">
            <a:avLst>
              <a:gd name="adj" fmla="val 455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847725" y="3590925"/>
            <a:ext cx="6180534" cy="781050"/>
          </a:xfrm>
          <a:prstGeom prst="roundRect">
            <a:avLst>
              <a:gd name="adj" fmla="val 12195"/>
            </a:avLst>
          </a:prstGeom>
          <a:solidFill>
            <a:srgbClr val="E0F2FE"/>
          </a:solidFill>
          <a:ln w="9525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609284" y="2543175"/>
            <a:ext cx="3973115" cy="647700"/>
          </a:xfrm>
          <a:prstGeom prst="roundRect">
            <a:avLst>
              <a:gd name="adj" fmla="val 1470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609284" y="3305175"/>
            <a:ext cx="3973115" cy="647700"/>
          </a:xfrm>
          <a:prstGeom prst="roundRect">
            <a:avLst>
              <a:gd name="adj" fmla="val 1470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609284" y="4067175"/>
            <a:ext cx="3973115" cy="647700"/>
          </a:xfrm>
          <a:prstGeom prst="roundRect">
            <a:avLst>
              <a:gd name="adj" fmla="val 1470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609284" y="4829175"/>
            <a:ext cx="3973115" cy="647700"/>
          </a:xfrm>
          <a:prstGeom prst="roundRect">
            <a:avLst>
              <a:gd name="adj" fmla="val 1470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47725" y="2771775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152525" y="2714625"/>
            <a:ext cx="5875734" cy="342900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47725" y="3190875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152525" y="3133725"/>
            <a:ext cx="5875734" cy="342900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47725" y="4543425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152525" y="4486275"/>
            <a:ext cx="5875734" cy="342900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47725" y="4962525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152525" y="4905375"/>
            <a:ext cx="5875734" cy="342900"/>
          </a:xfrm>
          <a:prstGeom prst="roundRect">
            <a:avLst>
              <a:gd name="adj" fmla="val 16666"/>
            </a:avLst>
          </a:prstGeom>
          <a:solidFill>
            <a:srgbClr val="F0FDF4"/>
          </a:solidFill>
          <a:ln w="9525">
            <a:solidFill>
              <a:srgbClr val="86EF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971550" y="3943350"/>
            <a:ext cx="2909292" cy="304800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3995142" y="3943350"/>
            <a:ext cx="2909292" cy="304800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0259" y="2752725"/>
            <a:ext cx="200025" cy="2286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0259" y="3533775"/>
            <a:ext cx="238125" cy="1905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90259" y="4295775"/>
            <a:ext cx="171450" cy="1905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90259" y="5057775"/>
            <a:ext cx="190500" cy="1905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09600" y="381000"/>
            <a:ext cx="11068050" cy="581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Step-By-Step Process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600" y="600075"/>
            <a:ext cx="11582400" cy="3619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250" b="1" i="0" u="none">
                <a:solidFill>
                  <a:srgbClr val="0F172A"/>
                </a:solidFill>
                <a:latin typeface="Plus Jakarta Sans"/>
              </a:rPr>
              <a:t>Project Steps &amp; Tools Used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7725" y="2381250"/>
            <a:ext cx="7725667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Space Grotesk"/>
              </a:rPr>
              <a:t>System Flowchart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09284" y="2152650"/>
            <a:ext cx="458271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Software &amp; Tools Used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850" y="2771775"/>
            <a:ext cx="51435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 u="none">
                <a:solidFill>
                  <a:srgbClr val="FFFFFF"/>
                </a:solidFill>
                <a:latin typeface="Plus Jakarta Sans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85875" y="2790825"/>
            <a:ext cx="5704284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34155"/>
                </a:solidFill>
                <a:latin typeface="Plus Jakarta Sans"/>
              </a:rPr>
              <a:t>Set Up Virtual Network (Cell Tower + Helpers + Users)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850" y="3190875"/>
            <a:ext cx="51435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 u="none">
                <a:solidFill>
                  <a:srgbClr val="FFFFFF"/>
                </a:solidFill>
                <a:latin typeface="Plus Jakarta Sans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85875" y="3209925"/>
            <a:ext cx="5704284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34155"/>
                </a:solidFill>
                <a:latin typeface="Plus Jakarta Sans"/>
              </a:rPr>
              <a:t>Measure Current Signal Quality &amp; Background Interference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9939" y="3714750"/>
            <a:ext cx="741610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0369A1"/>
                </a:solidFill>
                <a:latin typeface="Plus Jakarta Sans"/>
              </a:rPr>
              <a:t>AI Executes Actions Simultaneously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4850" y="4543425"/>
            <a:ext cx="51435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 u="none">
                <a:solidFill>
                  <a:srgbClr val="FFFFFF"/>
                </a:solidFill>
                <a:latin typeface="Plus Jakarta Sans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85875" y="4562475"/>
            <a:ext cx="5704284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34155"/>
                </a:solidFill>
                <a:latin typeface="Plus Jakarta Sans"/>
              </a:rPr>
              <a:t>Transmit Data &amp; Calculate Internet Speed &amp; Power Used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850" y="4962525"/>
            <a:ext cx="51435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 u="none">
                <a:solidFill>
                  <a:srgbClr val="FFFFFF"/>
                </a:solidFill>
                <a:latin typeface="Plus Jakarta Sans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85875" y="4981575"/>
            <a:ext cx="5704284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66534"/>
                </a:solidFill>
                <a:latin typeface="Plus Jakarta Sans"/>
              </a:rPr>
              <a:t>Compare AI Performance vs Traditional Old Methods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23634" y="2667000"/>
            <a:ext cx="17526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E293B"/>
                </a:solidFill>
                <a:latin typeface="Plus Jakarta Sans"/>
              </a:rPr>
              <a:t>Python </a:t>
            </a:r>
            <a:r>
              <a:rPr sz="975" b="1" i="0" u="none">
                <a:solidFill>
                  <a:srgbClr val="64748B"/>
                </a:solidFill>
                <a:latin typeface="Plus Jakarta Sans"/>
              </a:rPr>
              <a:t>Main programming language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61734" y="3429000"/>
            <a:ext cx="16764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E293B"/>
                </a:solidFill>
                <a:latin typeface="Plus Jakarta Sans"/>
              </a:rPr>
              <a:t>Google Colab </a:t>
            </a:r>
            <a:r>
              <a:rPr sz="975" b="1" i="0" u="none">
                <a:solidFill>
                  <a:srgbClr val="64748B"/>
                </a:solidFill>
                <a:latin typeface="Plus Jakarta Sans"/>
              </a:rPr>
              <a:t>Cloud platform to run code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95059" y="4191000"/>
            <a:ext cx="16002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E293B"/>
                </a:solidFill>
                <a:latin typeface="Plus Jakarta Sans"/>
              </a:rPr>
              <a:t>PyTorch </a:t>
            </a:r>
            <a:r>
              <a:rPr sz="975" b="1" i="0" u="none">
                <a:solidFill>
                  <a:srgbClr val="64748B"/>
                </a:solidFill>
                <a:latin typeface="Plus Jakarta Sans"/>
              </a:rPr>
              <a:t>AI &amp; Neural Network library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14109" y="4953000"/>
            <a:ext cx="218122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E293B"/>
                </a:solidFill>
                <a:latin typeface="Plus Jakarta Sans"/>
              </a:rPr>
              <a:t>Matplotlib &amp; NumPy </a:t>
            </a:r>
            <a:r>
              <a:rPr sz="975" b="1" i="0" u="none">
                <a:solidFill>
                  <a:srgbClr val="64748B"/>
                </a:solidFill>
                <a:latin typeface="Plus Jakarta Sans"/>
              </a:rPr>
              <a:t>For calculations and plotting graphs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4088" y="4019550"/>
            <a:ext cx="348421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0284C7"/>
                </a:solidFill>
                <a:latin typeface="Plus Jakarta Sans"/>
              </a:rPr>
              <a:t>Pick Best Helper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707680" y="4019550"/>
            <a:ext cx="348421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0284C7"/>
                </a:solidFill>
                <a:latin typeface="Plus Jakarta Sans"/>
              </a:rPr>
              <a:t>Adjust Power Levels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1304925"/>
            <a:ext cx="5314950" cy="5095875"/>
          </a:xfrm>
          <a:prstGeom prst="roundRect">
            <a:avLst>
              <a:gd name="adj" fmla="val 2990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67450" y="1304925"/>
            <a:ext cx="5314950" cy="5095875"/>
          </a:xfrm>
          <a:prstGeom prst="roundRect">
            <a:avLst>
              <a:gd name="adj" fmla="val 2990"/>
            </a:avLst>
          </a:prstGeom>
          <a:solidFill>
            <a:srgbClr val="F0F9FF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85825" y="5667375"/>
            <a:ext cx="4762500" cy="457200"/>
          </a:xfrm>
          <a:prstGeom prst="roundRect">
            <a:avLst>
              <a:gd name="adj" fmla="val 20833"/>
            </a:avLst>
          </a:prstGeom>
          <a:solidFill>
            <a:srgbClr val="F0FDF4"/>
          </a:solidFill>
          <a:ln w="9525">
            <a:solidFill>
              <a:srgbClr val="86EF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85825" y="2286000"/>
            <a:ext cx="4762500" cy="428625"/>
          </a:xfrm>
          <a:prstGeom prst="roundRect">
            <a:avLst>
              <a:gd name="adj" fmla="val 17777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43675" y="2009775"/>
            <a:ext cx="4762500" cy="428625"/>
          </a:xfrm>
          <a:prstGeom prst="roundRect">
            <a:avLst>
              <a:gd name="adj" fmla="val 17777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543675" y="2828925"/>
            <a:ext cx="4762500" cy="428625"/>
          </a:xfrm>
          <a:prstGeom prst="roundRect">
            <a:avLst>
              <a:gd name="adj" fmla="val 17777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543675" y="3648075"/>
            <a:ext cx="4762500" cy="428625"/>
          </a:xfrm>
          <a:prstGeom prst="roundRect">
            <a:avLst>
              <a:gd name="adj" fmla="val 17777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543675" y="4467225"/>
            <a:ext cx="4762500" cy="409575"/>
          </a:xfrm>
          <a:prstGeom prst="roundRect">
            <a:avLst>
              <a:gd name="adj" fmla="val 18604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543675" y="5267325"/>
            <a:ext cx="4762500" cy="409575"/>
          </a:xfrm>
          <a:prstGeom prst="roundRect">
            <a:avLst>
              <a:gd name="adj" fmla="val 18604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4912" y="5838825"/>
            <a:ext cx="171450" cy="1333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7775" y="2562225"/>
            <a:ext cx="114300" cy="1524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7775" y="3381375"/>
            <a:ext cx="114300" cy="1524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7775" y="4200525"/>
            <a:ext cx="114300" cy="1524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7775" y="5000625"/>
            <a:ext cx="114300" cy="1524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825" y="3190875"/>
            <a:ext cx="123825" cy="14287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825" y="3448050"/>
            <a:ext cx="123825" cy="14287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825" y="3705225"/>
            <a:ext cx="123825" cy="14287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825" y="3962400"/>
            <a:ext cx="123825" cy="142875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09600" y="457200"/>
            <a:ext cx="11068050" cy="619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System Building Blocks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600" y="695325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System Implementation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3675" y="1581150"/>
            <a:ext cx="564832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369A1"/>
                </a:solidFill>
                <a:latin typeface="Plus Jakarta Sans"/>
              </a:rPr>
              <a:t>Main Code Modules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5825" y="1581150"/>
            <a:ext cx="6250781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Virtual Simulation Environment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5825" y="1933575"/>
            <a:ext cx="595312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Plus Jakarta Sans"/>
              </a:rPr>
              <a:t>Creates a simulated digital playground with: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4812" y="2400300"/>
            <a:ext cx="572452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38BDF8"/>
                </a:solidFill>
                <a:latin typeface="Space Grotesk"/>
              </a:rPr>
              <a:t>Cell Tower → Helper Nodes → Users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5825" y="2905125"/>
            <a:ext cx="595312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1E293B"/>
                </a:solidFill>
                <a:latin typeface="Plus Jakarta Sans"/>
              </a:rPr>
              <a:t>Key Simulated Factors: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9106" y="5810250"/>
            <a:ext cx="5595937" cy="171450"/>
          </a:xfrm>
          <a:prstGeom prst="rect">
            <a:avLst/>
          </a:prstGeom>
          <a:noFill/>
        </p:spPr>
        <p:txBody>
          <a:bodyPr wrap="none" lIns="22860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166534"/>
                </a:solidFill>
                <a:latin typeface="Plus Jakarta Sans"/>
              </a:rPr>
              <a:t>100% Software Simulation — No physical hardware required!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00762" y="2124075"/>
            <a:ext cx="564832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0F172A"/>
                </a:solidFill>
                <a:latin typeface="Plus Jakarta Sans"/>
              </a:rPr>
              <a:t>1. Network Topology Setup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00762" y="2943225"/>
            <a:ext cx="564832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0F172A"/>
                </a:solidFill>
                <a:latin typeface="Plus Jakarta Sans"/>
              </a:rPr>
              <a:t>2. Signal Quality Calculator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00762" y="3762375"/>
            <a:ext cx="564832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0F172A"/>
                </a:solidFill>
                <a:latin typeface="Plus Jakarta Sans"/>
              </a:rPr>
              <a:t>3. AI Helper Selector &amp; Power Controller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00762" y="4581525"/>
            <a:ext cx="5648325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FFFFFF"/>
                </a:solidFill>
                <a:latin typeface="Plus Jakarta Sans"/>
              </a:rPr>
              <a:t>4. Multi-Agent AI Training Engine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00762" y="5381625"/>
            <a:ext cx="5648325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F8FAFC"/>
                </a:solidFill>
                <a:latin typeface="Plus Jakarta Sans"/>
              </a:rPr>
              <a:t>5. Performance Tester &amp; Graph Plotter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5825" y="3162300"/>
            <a:ext cx="5953125" cy="180975"/>
          </a:xfrm>
          <a:prstGeom prst="rect">
            <a:avLst/>
          </a:prstGeom>
          <a:noFill/>
        </p:spPr>
        <p:txBody>
          <a:bodyPr wrap="none" lIns="200025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334155"/>
                </a:solidFill>
                <a:latin typeface="Plus Jakarta Sans"/>
              </a:rPr>
              <a:t>Signal strength &amp; obstacle distance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5825" y="3419475"/>
            <a:ext cx="5953125" cy="180975"/>
          </a:xfrm>
          <a:prstGeom prst="rect">
            <a:avLst/>
          </a:prstGeom>
          <a:noFill/>
        </p:spPr>
        <p:txBody>
          <a:bodyPr wrap="none" lIns="200025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334155"/>
                </a:solidFill>
                <a:latin typeface="Plus Jakarta Sans"/>
              </a:rPr>
              <a:t>Background noise and phone interference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5825" y="3676650"/>
            <a:ext cx="5953125" cy="180975"/>
          </a:xfrm>
          <a:prstGeom prst="rect">
            <a:avLst/>
          </a:prstGeom>
          <a:noFill/>
        </p:spPr>
        <p:txBody>
          <a:bodyPr wrap="none" lIns="200025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334155"/>
                </a:solidFill>
                <a:latin typeface="Plus Jakarta Sans"/>
              </a:rPr>
              <a:t>Data speed needed by each user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5825" y="3933825"/>
            <a:ext cx="5953125" cy="180975"/>
          </a:xfrm>
          <a:prstGeom prst="rect">
            <a:avLst/>
          </a:prstGeom>
          <a:noFill/>
        </p:spPr>
        <p:txBody>
          <a:bodyPr wrap="none" lIns="200025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334155"/>
                </a:solidFill>
                <a:latin typeface="Plus Jakarta Sans"/>
              </a:rPr>
              <a:t>Max battery power allowed per helper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1543050"/>
            <a:ext cx="10972800" cy="4895850"/>
          </a:xfrm>
          <a:prstGeom prst="roundRect">
            <a:avLst>
              <a:gd name="adj" fmla="val 2334"/>
            </a:avLst>
          </a:prstGeom>
          <a:noFill/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19125" y="1552575"/>
          <a:ext cx="10953750" cy="3390900"/>
        </p:xfrm>
        <a:graphic>
          <a:graphicData uri="http://schemas.openxmlformats.org/drawingml/2006/table">
            <a:tbl>
              <a:tblPr/>
              <a:tblGrid>
                <a:gridCol w="3286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67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3862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Metric Term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Simple Meaning &amp; Plain Definition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3862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0284C7"/>
                          </a:solidFill>
                          <a:latin typeface="Plus Jakarta Sans"/>
                        </a:rPr>
                        <a:t>Network Throughput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Total Network Speed:</a:t>
                      </a:r>
                      <a:r>
                        <a:rPr sz="1125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 Total data delivered across all phones at once.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3862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0284C7"/>
                          </a:solidFill>
                          <a:latin typeface="Plus Jakarta Sans"/>
                        </a:rPr>
                        <a:t>Data Rate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Individual Download Speed:</a:t>
                      </a:r>
                      <a:r>
                        <a:rPr sz="1125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 How fast a single user gets information.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3862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0284C7"/>
                          </a:solidFill>
                          <a:latin typeface="Plus Jakarta Sans"/>
                        </a:rPr>
                        <a:t>SINR (Signal-to-Noise)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Signal Clarity:</a:t>
                      </a:r>
                      <a:r>
                        <a:rPr sz="1125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 Compares pure voice/data signal against background noise.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3862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0284C7"/>
                          </a:solidFill>
                          <a:latin typeface="Plus Jakarta Sans"/>
                        </a:rPr>
                        <a:t>Bit Error Rate (BER)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Data Corruption:</a:t>
                      </a:r>
                      <a:r>
                        <a:rPr sz="1125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 Percentage of corrupted bits received during transmission.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3862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0284C7"/>
                          </a:solidFill>
                          <a:latin typeface="Plus Jakarta Sans"/>
                        </a:rPr>
                        <a:t>Outage Probability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Connection Drop Risk:</a:t>
                      </a:r>
                      <a:r>
                        <a:rPr sz="1125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 Chance that a call or stream disconnects entirely.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3862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0284C7"/>
                          </a:solidFill>
                          <a:latin typeface="Plus Jakarta Sans"/>
                        </a:rPr>
                        <a:t>Energy Efficiency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Power Economy:</a:t>
                      </a:r>
                      <a:r>
                        <a:rPr sz="1125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 Amount of data sent per unit of battery energy spent.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3866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0284C7"/>
                          </a:solidFill>
                          <a:latin typeface="Plus Jakarta Sans"/>
                        </a:rPr>
                        <a:t>Power Consumption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Total Power Used:</a:t>
                      </a:r>
                      <a:r>
                        <a:rPr sz="1125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 Overall electricity consumed by cell towers and helpers.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09600" y="419100"/>
            <a:ext cx="11068050" cy="581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How We Measure Success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1190625"/>
            <a:ext cx="115824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Plus Jakarta Sans"/>
              </a:rPr>
              <a:t>We test our AI system using these 7 standard wireless metrics: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638175"/>
            <a:ext cx="11582400" cy="3619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250" b="1" i="0" u="none">
                <a:solidFill>
                  <a:srgbClr val="0F172A"/>
                </a:solidFill>
                <a:latin typeface="Plus Jakarta Sans"/>
              </a:rPr>
              <a:t>Performance Metrics (Explained Simply)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095625"/>
            <a:ext cx="10972800" cy="1228725"/>
          </a:xfrm>
          <a:prstGeom prst="roundRect">
            <a:avLst>
              <a:gd name="adj" fmla="val 9302"/>
            </a:avLst>
          </a:prstGeom>
          <a:solidFill>
            <a:srgbClr val="F0F9FF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1190625"/>
            <a:ext cx="3530649" cy="1714500"/>
          </a:xfrm>
          <a:prstGeom prst="roundRect">
            <a:avLst>
              <a:gd name="adj" fmla="val 6666"/>
            </a:avLst>
          </a:prstGeom>
          <a:solidFill>
            <a:srgbClr val="F8FAFC"/>
          </a:solidFill>
          <a:ln w="190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330749" y="1190625"/>
            <a:ext cx="3530649" cy="1714500"/>
          </a:xfrm>
          <a:prstGeom prst="roundRect">
            <a:avLst>
              <a:gd name="adj" fmla="val 6666"/>
            </a:avLst>
          </a:prstGeom>
          <a:solidFill>
            <a:srgbClr val="F8FAFC"/>
          </a:solidFill>
          <a:ln w="190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051899" y="1190625"/>
            <a:ext cx="3530649" cy="1714500"/>
          </a:xfrm>
          <a:prstGeom prst="roundRect">
            <a:avLst>
              <a:gd name="adj" fmla="val 6666"/>
            </a:avLst>
          </a:prstGeom>
          <a:solidFill>
            <a:srgbClr val="F8FAFC"/>
          </a:solidFill>
          <a:ln w="190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09625" y="3552825"/>
            <a:ext cx="2428875" cy="304800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9525">
            <a:solidFill>
              <a:srgbClr val="93C5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429000" y="3552825"/>
            <a:ext cx="2343150" cy="304800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9525">
            <a:solidFill>
              <a:srgbClr val="93C5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962650" y="3552825"/>
            <a:ext cx="2362200" cy="304800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9525">
            <a:solidFill>
              <a:srgbClr val="93C5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1500" y="1595437"/>
            <a:ext cx="266700" cy="2667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2650" y="1595437"/>
            <a:ext cx="266700" cy="2667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83799" y="1671637"/>
            <a:ext cx="266700" cy="2667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9600" y="419100"/>
            <a:ext cx="11068050" cy="581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Experimental Results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638175"/>
            <a:ext cx="11582400" cy="3619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250" b="1" i="0" u="none">
                <a:solidFill>
                  <a:srgbClr val="0F172A"/>
                </a:solidFill>
                <a:latin typeface="Plus Jakarta Sans"/>
              </a:rPr>
              <a:t>Simulation &amp; Graph Comparisons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625" y="3295650"/>
            <a:ext cx="1138237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369A1"/>
                </a:solidFill>
                <a:latin typeface="Plus Jakarta Sans"/>
              </a:rPr>
              <a:t>Baseline Methods We Compare Against: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625" y="3971925"/>
            <a:ext cx="1138237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1" u="none">
                <a:solidFill>
                  <a:srgbClr val="475569"/>
                </a:solidFill>
                <a:latin typeface="Plus Jakarta Sans"/>
              </a:rPr>
              <a:t>*Note: Exact numerical results and percentage improvements are generated directly from Google Colab code runs.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3440" y="1957387"/>
            <a:ext cx="256282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0F172A"/>
                </a:solidFill>
                <a:latin typeface="Plus Jakarta Sans"/>
              </a:rPr>
              <a:t>Graph 1: AI Learning Speed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0206" y="2195512"/>
            <a:ext cx="3889437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64748B"/>
                </a:solidFill>
                <a:latin typeface="Plus Jakarta Sans"/>
              </a:rPr>
              <a:t>Shows how the AI gets smarter and scores higher points over time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89599" y="1957387"/>
            <a:ext cx="2412801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0F172A"/>
                </a:solidFill>
                <a:latin typeface="Plus Jakarta Sans"/>
              </a:rPr>
              <a:t>Graph 2: Network Speed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51355" y="2195512"/>
            <a:ext cx="3889437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64748B"/>
                </a:solidFill>
                <a:latin typeface="Plus Jakarta Sans"/>
              </a:rPr>
              <a:t>Compares AI speed vs Random selection and Fixed helper selection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23250" y="2033587"/>
            <a:ext cx="2387798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0F172A"/>
                </a:solidFill>
                <a:latin typeface="Plus Jakarta Sans"/>
              </a:rPr>
              <a:t>Graph 3: Quality &amp; Errors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88337" y="2271712"/>
            <a:ext cx="385762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64748B"/>
                </a:solidFill>
                <a:latin typeface="Plus Jakarta Sans"/>
              </a:rPr>
              <a:t>Shows lower error rates and lower disconnection risks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2975" y="3609975"/>
            <a:ext cx="225742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E3A8A"/>
                </a:solidFill>
                <a:latin typeface="Plus Jakarta Sans"/>
              </a:rPr>
              <a:t>1. Random Helper Selection (Luck)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2350" y="3609975"/>
            <a:ext cx="21717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E3A8A"/>
                </a:solidFill>
                <a:latin typeface="Plus Jakarta Sans"/>
              </a:rPr>
              <a:t>2. Fixed Helper Selection (Static)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0" y="3609975"/>
            <a:ext cx="219075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E3A8A"/>
                </a:solidFill>
                <a:latin typeface="Plus Jakarta Sans"/>
              </a:rPr>
              <a:t>3. Equal Power Division (Old Way)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1190625"/>
            <a:ext cx="6228457" cy="5248275"/>
          </a:xfrm>
          <a:prstGeom prst="roundRect">
            <a:avLst>
              <a:gd name="adj" fmla="val 2903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142857" y="1190625"/>
            <a:ext cx="4439542" cy="5248275"/>
          </a:xfrm>
          <a:prstGeom prst="roundRect">
            <a:avLst>
              <a:gd name="adj" fmla="val 3432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71457" y="2844700"/>
            <a:ext cx="3982342" cy="419100"/>
          </a:xfrm>
          <a:prstGeom prst="roundRect">
            <a:avLst>
              <a:gd name="adj" fmla="val 18181"/>
            </a:avLst>
          </a:prstGeom>
          <a:solidFill>
            <a:srgbClr val="1D2537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71457" y="4327326"/>
            <a:ext cx="3982342" cy="419100"/>
          </a:xfrm>
          <a:prstGeom prst="roundRect">
            <a:avLst>
              <a:gd name="adj" fmla="val 18181"/>
            </a:avLst>
          </a:prstGeom>
          <a:solidFill>
            <a:srgbClr val="1D2537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71457" y="5809952"/>
            <a:ext cx="3982342" cy="400050"/>
          </a:xfrm>
          <a:prstGeom prst="roundRect">
            <a:avLst>
              <a:gd name="adj" fmla="val 19047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05478" y="3724126"/>
            <a:ext cx="114300" cy="1524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05478" y="5206751"/>
            <a:ext cx="114300" cy="1524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725" y="1809750"/>
            <a:ext cx="114300" cy="1333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1453" y="1809750"/>
            <a:ext cx="114300" cy="1333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725" y="2076450"/>
            <a:ext cx="114300" cy="1333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1453" y="2076450"/>
            <a:ext cx="114300" cy="1333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725" y="2343150"/>
            <a:ext cx="114300" cy="1333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1453" y="2343150"/>
            <a:ext cx="114300" cy="1333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725" y="2609850"/>
            <a:ext cx="114300" cy="1333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1453" y="2609850"/>
            <a:ext cx="114300" cy="1333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725" y="2876550"/>
            <a:ext cx="114300" cy="1333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1453" y="2876550"/>
            <a:ext cx="114300" cy="1333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725" y="3143250"/>
            <a:ext cx="114300" cy="13335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1453" y="3143250"/>
            <a:ext cx="114300" cy="13335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09600" y="419100"/>
            <a:ext cx="11068050" cy="581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6A34A"/>
                </a:solidFill>
                <a:latin typeface="Plus Jakarta Sans"/>
              </a:rPr>
              <a:t>Status Update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" y="638175"/>
            <a:ext cx="11582400" cy="3619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250" b="1" i="0" u="none">
                <a:solidFill>
                  <a:srgbClr val="0F172A"/>
                </a:solidFill>
                <a:latin typeface="Plus Jakarta Sans"/>
              </a:rPr>
              <a:t>Current Project Progress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7725" y="1428750"/>
            <a:ext cx="7549771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66534"/>
                </a:solidFill>
                <a:latin typeface="Plus Jakarta Sans"/>
              </a:rPr>
              <a:t>✅ Completed Milestones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71457" y="1419225"/>
            <a:ext cx="4820542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38BDF8"/>
                </a:solidFill>
                <a:latin typeface="Plus Jakarta Sans"/>
              </a:rPr>
              <a:t>Working System Output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71457" y="2070050"/>
            <a:ext cx="4077592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CBD5E1"/>
                </a:solidFill>
                <a:latin typeface="Plus Jakarta Sans"/>
              </a:rPr>
              <a:t>The working code demonstrates the end-to-end execution pipeline: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87964" y="2959000"/>
            <a:ext cx="4749328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38BDF8"/>
                </a:solidFill>
                <a:latin typeface="Plus Jakarta Sans"/>
              </a:rPr>
              <a:t>1. Detect Signal Quality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87964" y="4441626"/>
            <a:ext cx="4749328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38BDF8"/>
                </a:solidFill>
                <a:latin typeface="Plus Jakarta Sans"/>
              </a:rPr>
              <a:t>2. Pick Helper &amp; Set Power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87964" y="5924252"/>
            <a:ext cx="4749328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FFFFFF"/>
                </a:solidFill>
                <a:latin typeface="Plus Jakarta Sans"/>
              </a:rPr>
              <a:t>3. Evaluate Performance &amp; Graphs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7725" y="1781175"/>
            <a:ext cx="3535598" cy="171450"/>
          </a:xfrm>
          <a:prstGeom prst="rect">
            <a:avLst/>
          </a:prstGeom>
          <a:noFill/>
        </p:spPr>
        <p:txBody>
          <a:bodyPr wrap="none" lIns="17145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4532D"/>
                </a:solidFill>
                <a:latin typeface="Plus Jakarta Sans"/>
              </a:rPr>
              <a:t>Network simulator setup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71453" y="1781175"/>
            <a:ext cx="3535598" cy="171450"/>
          </a:xfrm>
          <a:prstGeom prst="rect">
            <a:avLst/>
          </a:prstGeom>
          <a:noFill/>
        </p:spPr>
        <p:txBody>
          <a:bodyPr wrap="none" lIns="17145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4532D"/>
                </a:solidFill>
                <a:latin typeface="Plus Jakarta Sans"/>
              </a:rPr>
              <a:t>User &amp; Helper generation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7725" y="2047875"/>
            <a:ext cx="3535598" cy="171450"/>
          </a:xfrm>
          <a:prstGeom prst="rect">
            <a:avLst/>
          </a:prstGeom>
          <a:noFill/>
        </p:spPr>
        <p:txBody>
          <a:bodyPr wrap="none" lIns="17145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4532D"/>
                </a:solidFill>
                <a:latin typeface="Plus Jakarta Sans"/>
              </a:rPr>
              <a:t>Signal quality formulas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71453" y="2047875"/>
            <a:ext cx="3535598" cy="171450"/>
          </a:xfrm>
          <a:prstGeom prst="rect">
            <a:avLst/>
          </a:prstGeom>
          <a:noFill/>
        </p:spPr>
        <p:txBody>
          <a:bodyPr wrap="none" lIns="17145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4532D"/>
                </a:solidFill>
                <a:latin typeface="Plus Jakarta Sans"/>
              </a:rPr>
              <a:t>Noise calculation code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7725" y="2314575"/>
            <a:ext cx="3535598" cy="171450"/>
          </a:xfrm>
          <a:prstGeom prst="rect">
            <a:avLst/>
          </a:prstGeom>
          <a:noFill/>
        </p:spPr>
        <p:txBody>
          <a:bodyPr wrap="none" lIns="17145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4532D"/>
                </a:solidFill>
                <a:latin typeface="Plus Jakarta Sans"/>
              </a:rPr>
              <a:t>Helper selection logic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71453" y="2314575"/>
            <a:ext cx="3535598" cy="171450"/>
          </a:xfrm>
          <a:prstGeom prst="rect">
            <a:avLst/>
          </a:prstGeom>
          <a:noFill/>
        </p:spPr>
        <p:txBody>
          <a:bodyPr wrap="none" lIns="17145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4532D"/>
                </a:solidFill>
                <a:latin typeface="Plus Jakarta Sans"/>
              </a:rPr>
              <a:t>Power setting module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7725" y="2581275"/>
            <a:ext cx="3535598" cy="171450"/>
          </a:xfrm>
          <a:prstGeom prst="rect">
            <a:avLst/>
          </a:prstGeom>
          <a:noFill/>
        </p:spPr>
        <p:txBody>
          <a:bodyPr wrap="none" lIns="17145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4532D"/>
                </a:solidFill>
                <a:latin typeface="Plus Jakarta Sans"/>
              </a:rPr>
              <a:t>AI learning environment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71453" y="2581275"/>
            <a:ext cx="3535598" cy="171450"/>
          </a:xfrm>
          <a:prstGeom prst="rect">
            <a:avLst/>
          </a:prstGeom>
          <a:noFill/>
        </p:spPr>
        <p:txBody>
          <a:bodyPr wrap="none" lIns="17145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4532D"/>
                </a:solidFill>
                <a:latin typeface="Plus Jakarta Sans"/>
              </a:rPr>
              <a:t>PPO agent architecture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7725" y="2847975"/>
            <a:ext cx="3535598" cy="171450"/>
          </a:xfrm>
          <a:prstGeom prst="rect">
            <a:avLst/>
          </a:prstGeom>
          <a:noFill/>
        </p:spPr>
        <p:txBody>
          <a:bodyPr wrap="none" lIns="17145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4532D"/>
                </a:solidFill>
                <a:latin typeface="Plus Jakarta Sans"/>
              </a:rPr>
              <a:t>Multi-agent setup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71453" y="2847975"/>
            <a:ext cx="3535598" cy="171450"/>
          </a:xfrm>
          <a:prstGeom prst="rect">
            <a:avLst/>
          </a:prstGeom>
          <a:noFill/>
        </p:spPr>
        <p:txBody>
          <a:bodyPr wrap="none" lIns="17145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4532D"/>
                </a:solidFill>
                <a:latin typeface="Plus Jakarta Sans"/>
              </a:rPr>
              <a:t>Speed &amp; power metric formulas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7725" y="3114675"/>
            <a:ext cx="3535598" cy="171450"/>
          </a:xfrm>
          <a:prstGeom prst="rect">
            <a:avLst/>
          </a:prstGeom>
          <a:noFill/>
        </p:spPr>
        <p:txBody>
          <a:bodyPr wrap="none" lIns="17145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4532D"/>
                </a:solidFill>
                <a:latin typeface="Plus Jakarta Sans"/>
              </a:rPr>
              <a:t>Baseline comparison scripts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771453" y="3114675"/>
            <a:ext cx="3535598" cy="171450"/>
          </a:xfrm>
          <a:prstGeom prst="rect">
            <a:avLst/>
          </a:prstGeom>
          <a:noFill/>
        </p:spPr>
        <p:txBody>
          <a:bodyPr wrap="none" lIns="17145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4532D"/>
                </a:solidFill>
                <a:latin typeface="Plus Jakarta Sans"/>
              </a:rPr>
              <a:t>Result graph generation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6038850"/>
            <a:ext cx="10972800" cy="3619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2266950"/>
            <a:ext cx="6035426" cy="2581275"/>
          </a:xfrm>
          <a:prstGeom prst="roundRect">
            <a:avLst>
              <a:gd name="adj" fmla="val 5904"/>
            </a:avLst>
          </a:prstGeom>
          <a:solidFill>
            <a:srgbClr val="1A2436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09600" y="6038850"/>
            <a:ext cx="109728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949826" y="2266950"/>
            <a:ext cx="4632573" cy="800100"/>
          </a:xfrm>
          <a:prstGeom prst="roundRect">
            <a:avLst>
              <a:gd name="adj" fmla="val 14285"/>
            </a:avLst>
          </a:prstGeom>
          <a:solidFill>
            <a:srgbClr val="0E273B"/>
          </a:solidFill>
          <a:ln w="9525">
            <a:solidFill>
              <a:srgbClr val="0C47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949826" y="3219450"/>
            <a:ext cx="4632573" cy="1628775"/>
          </a:xfrm>
          <a:prstGeom prst="roundRect">
            <a:avLst>
              <a:gd name="adj" fmla="val 7017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2933700"/>
            <a:ext cx="142875" cy="1428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3209925"/>
            <a:ext cx="142875" cy="1428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3486150"/>
            <a:ext cx="142875" cy="1428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3762375"/>
            <a:ext cx="142875" cy="1428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4038600"/>
            <a:ext cx="142875" cy="1428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4314825"/>
            <a:ext cx="142875" cy="14287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09600" y="457200"/>
            <a:ext cx="11068050" cy="847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8BDF8"/>
                </a:solidFill>
                <a:latin typeface="Plus Jakarta Sans"/>
              </a:rPr>
              <a:t>Final Phase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695325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FFFFFF"/>
                </a:solidFill>
                <a:latin typeface="Plus Jakarta Sans"/>
              </a:rPr>
              <a:t>Next Steps &amp; Summary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-381000" y="6200775"/>
            <a:ext cx="129540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94A3B8"/>
                </a:solidFill>
                <a:latin typeface="Space Grotesk"/>
              </a:rPr>
              <a:t>Thank You! Any Questions?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725" y="2505075"/>
            <a:ext cx="7296419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38BDF8"/>
                </a:solidFill>
                <a:latin typeface="Plus Jakarta Sans"/>
              </a:rPr>
              <a:t>🔄 Remaining Tasks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7725" y="2905125"/>
            <a:ext cx="6948971" cy="180975"/>
          </a:xfrm>
          <a:prstGeom prst="rect">
            <a:avLst/>
          </a:prstGeom>
          <a:noFill/>
        </p:spPr>
        <p:txBody>
          <a:bodyPr wrap="none" lIns="219075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E2E8F0"/>
                </a:solidFill>
                <a:latin typeface="Plus Jakarta Sans"/>
              </a:rPr>
              <a:t>Run extended AI training rounds for higher accuracy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7725" y="3181350"/>
            <a:ext cx="6948971" cy="180975"/>
          </a:xfrm>
          <a:prstGeom prst="rect">
            <a:avLst/>
          </a:prstGeom>
          <a:noFill/>
        </p:spPr>
        <p:txBody>
          <a:bodyPr wrap="none" lIns="219075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E2E8F0"/>
                </a:solidFill>
                <a:latin typeface="Plus Jakarta Sans"/>
              </a:rPr>
              <a:t>Fine-tune the point/reward system for the AI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7725" y="3457575"/>
            <a:ext cx="6948971" cy="180975"/>
          </a:xfrm>
          <a:prstGeom prst="rect">
            <a:avLst/>
          </a:prstGeom>
          <a:noFill/>
        </p:spPr>
        <p:txBody>
          <a:bodyPr wrap="none" lIns="219075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E2E8F0"/>
                </a:solidFill>
                <a:latin typeface="Plus Jakarta Sans"/>
              </a:rPr>
              <a:t>Optimize multi-agent coordination between helper nodes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7725" y="3733800"/>
            <a:ext cx="6948971" cy="180975"/>
          </a:xfrm>
          <a:prstGeom prst="rect">
            <a:avLst/>
          </a:prstGeom>
          <a:noFill/>
        </p:spPr>
        <p:txBody>
          <a:bodyPr wrap="none" lIns="219075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E2E8F0"/>
                </a:solidFill>
                <a:latin typeface="Plus Jakarta Sans"/>
              </a:rPr>
              <a:t>Test with larger networks (50+ users and 20+ helpers)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7725" y="4010025"/>
            <a:ext cx="6948971" cy="180975"/>
          </a:xfrm>
          <a:prstGeom prst="rect">
            <a:avLst/>
          </a:prstGeom>
          <a:noFill/>
        </p:spPr>
        <p:txBody>
          <a:bodyPr wrap="none" lIns="219075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E2E8F0"/>
                </a:solidFill>
                <a:latin typeface="Plus Jakarta Sans"/>
              </a:rPr>
              <a:t>Finalize performance comparison charts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7725" y="4286250"/>
            <a:ext cx="6948971" cy="180975"/>
          </a:xfrm>
          <a:prstGeom prst="rect">
            <a:avLst/>
          </a:prstGeom>
          <a:noFill/>
        </p:spPr>
        <p:txBody>
          <a:bodyPr wrap="none" lIns="219075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E2E8F0"/>
                </a:solidFill>
                <a:latin typeface="Plus Jakarta Sans"/>
              </a:rPr>
              <a:t>Complete final project documentation report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49851" y="2466975"/>
            <a:ext cx="4327773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i="0" u="none">
                <a:solidFill>
                  <a:srgbClr val="38BDF8"/>
                </a:solidFill>
                <a:latin typeface="Plus Jakarta Sans"/>
              </a:rPr>
              <a:t>Key Note:</a:t>
            </a:r>
            <a:r>
              <a:rPr sz="1050" b="0" i="0" u="none">
                <a:solidFill>
                  <a:srgbClr val="CBD5E1"/>
                </a:solidFill>
                <a:latin typeface="Plus Jakarta Sans"/>
              </a:rPr>
              <a:t> The exact point rewards and agent division of labor are fine-tuned dynamically as simulation tests run.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78426" y="3448050"/>
            <a:ext cx="5013573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FFFFFF"/>
                </a:solidFill>
                <a:latin typeface="Plus Jakarta Sans"/>
              </a:rPr>
              <a:t>Summary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78426" y="3762375"/>
            <a:ext cx="4270623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F0F9FF"/>
                </a:solidFill>
                <a:latin typeface="Plus Jakarta Sans"/>
              </a:rPr>
              <a:t>This project uses Multi-Agent AI to automatically pick signal-boosting helpers and set power levels in wireless networks, achieving faster speeds, clearer connections, lower disconnection risks, and better battery savings.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1098</Words>
  <Application>Microsoft Office PowerPoint</Application>
  <PresentationFormat>Widescreen</PresentationFormat>
  <Paragraphs>163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Space Grotesk</vt:lpstr>
      <vt:lpstr>Plus Jakarta Sans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hi</dc:creator>
  <cp:keywords/>
  <dc:description>generated using python-pptx</dc:description>
  <cp:lastModifiedBy>Shivadarahas V</cp:lastModifiedBy>
  <cp:revision>2</cp:revision>
  <dcterms:created xsi:type="dcterms:W3CDTF">2013-01-27T09:14:16Z</dcterms:created>
  <dcterms:modified xsi:type="dcterms:W3CDTF">2026-09-29T09:18:54Z</dcterms:modified>
  <cp:category/>
</cp:coreProperties>
</file>